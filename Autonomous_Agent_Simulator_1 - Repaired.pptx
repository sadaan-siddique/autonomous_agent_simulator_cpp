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10"/>
  </p:normalViewPr>
  <p:slideViewPr>
    <p:cSldViewPr snapToGrid="0" snapToObjects="1">
      <p:cViewPr>
        <p:scale>
          <a:sx n="124" d="100"/>
          <a:sy n="124" d="100"/>
        </p:scale>
        <p:origin x="8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4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73299B5F-B1B8-5E6C-5356-BDEF7BF08490}"/>
              </a:ext>
            </a:extLst>
          </p:cNvPr>
          <p:cNvSpPr/>
          <p:nvPr/>
        </p:nvSpPr>
        <p:spPr>
          <a:xfrm>
            <a:off x="0" y="0"/>
            <a:ext cx="9144000" cy="52192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274320" y="1828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1828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828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828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4114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4114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4114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4114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6400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6400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6400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6400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1463040"/>
            <a:ext cx="164592" cy="2194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417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20040" y="21031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SIMULATOR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20040" y="2880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Object-Oriented CLI-Based Simulation Project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5943600" cy="27432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Aaiza Maryam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Environment Module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98678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9410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Umaiza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Core Vector2D Module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44074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361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Qaisar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Agent &amp; Sensor Modules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520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Matrix / Linear Algebra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9867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39410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Sadaan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BFS Pathfinding  ·  Senior PM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4389120"/>
            <a:ext cx="2377440" cy="640080"/>
          </a:xfrm>
          <a:prstGeom prst="rect">
            <a:avLst/>
          </a:prstGeom>
          <a:solidFill>
            <a:srgbClr val="1B2D45"/>
          </a:solidFill>
          <a:ln w="12700">
            <a:solidFill>
              <a:srgbClr val="1A7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4389120"/>
            <a:ext cx="23774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— Faculty of CS &amp; SE
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Lab  ·  CS112L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" cy="11430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terminal simulation of an autonomous agent navigating a 2D grid filled with random obstacles from start to target.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109728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57860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make OOP concepts tangible — abstraction, polymorphism, composition, and BFS pathfinding all working together visually in a CLI.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557016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10972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3877056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C++ from scratch: modular header/source pairs, a sensor hierarchy, a BFS pathfinder, and a dynamic random environment — all driven from main.cpp.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76072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1417320"/>
            <a:ext cx="73152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25312" y="1325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15×15 random obstacle grid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865376"/>
            <a:ext cx="73152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25312" y="1773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shortest-path navigation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2313432"/>
            <a:ext cx="73152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25312" y="2221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DistanceSensor with range detection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2761488"/>
            <a:ext cx="73152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25312" y="2670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CLI animation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3209544"/>
            <a:ext cx="73152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25312" y="31181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Sensor base class (Polymorphism)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3657600"/>
            <a:ext cx="73152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25312" y="3566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Vector2D with operator overloading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60720" y="4105656"/>
            <a:ext cx="73152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25312" y="40142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Agent owns Sensor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60720" y="4553712"/>
            <a:ext cx="73152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25312" y="44622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obstacle regeneration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  ·  5 Members  ·  1 Simulator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·  How It All Connects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749040" y="868680"/>
            <a:ext cx="1645920" cy="6400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49040" y="868680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main.cpp
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1828800" cy="640080"/>
          </a:xfrm>
          <a:prstGeom prst="rect">
            <a:avLst/>
          </a:prstGeom>
          <a:solidFill>
            <a:srgbClr val="1A73E8">
              <a:alpha val="85000"/>
            </a:srgbClr>
          </a:solidFill>
          <a:ln w="12700">
            <a:solidFill>
              <a:srgbClr val="1A7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
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Obstacles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2011680"/>
            <a:ext cx="1828800" cy="640080"/>
          </a:xfrm>
          <a:prstGeom prst="rect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Vector2D
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Geometry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1828800" cy="640080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
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Movement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2011680"/>
            <a:ext cx="2011680" cy="640080"/>
          </a:xfrm>
          <a:prstGeom prst="rect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(ABS)
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Interface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3337560"/>
            <a:ext cx="2011680" cy="6400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
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Algorithm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2286000" cy="640080"/>
          </a:xfrm>
          <a:prstGeom prst="rect">
            <a:avLst/>
          </a:prstGeom>
          <a:solidFill>
            <a:srgbClr val="E879F9">
              <a:alpha val="85000"/>
            </a:srgbClr>
          </a:solidFill>
          <a:ln w="12700">
            <a:solidFill>
              <a:srgbClr val="E879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DistanceSensor
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Sensor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3337560"/>
            <a:ext cx="2011680" cy="640080"/>
          </a:xfrm>
          <a:prstGeom prst="rect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
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Module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1508760"/>
            <a:ext cx="0" cy="512064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06240" y="1508760"/>
            <a:ext cx="0" cy="512064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37760" y="1508760"/>
            <a:ext cx="365760" cy="51206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0" y="1508760"/>
            <a:ext cx="2103120" cy="512064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651760"/>
            <a:ext cx="0" cy="6858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0" y="2651760"/>
            <a:ext cx="0" cy="68580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80960" y="2651760"/>
            <a:ext cx="274320" cy="685800"/>
          </a:xfrm>
          <a:prstGeom prst="line">
            <a:avLst/>
          </a:prstGeom>
          <a:noFill/>
          <a:ln w="19050">
            <a:solidFill>
              <a:srgbClr val="E879F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297180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E879F9">
              <a:alpha val="25000"/>
            </a:srgbClr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999232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2999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66560" y="155448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6656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= one module  ·  Arrows = dependency/usage  ·  Colors = responsible member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228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UMAIZA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5669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Vector2D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" y="1115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Geometry Module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508760"/>
            <a:ext cx="3291840" cy="27432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66420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2D integer coordinates (m_x, m_y)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215798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Operator overloading: +  −  ==  +=  *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" y="26517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Stream output: ostream &lt;&lt;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" y="31455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distance() and magnitude() helpers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" y="363931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#️⃣  Vector2DHash for use in unordered containers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" y="41330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Used by: Agent, Environment, BFS, Sensor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228600"/>
            <a:ext cx="4892040" cy="4681728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0" y="292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vector2d.hpp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9080" y="621792"/>
            <a:ext cx="4663440" cy="42245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Vector2D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m_x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m_y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Operator Overloading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Vector2D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+(const Vector2D&amp;) const;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Vector2D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-(const Vector2D&amp;) const;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==(const Vector2D&amp;) const;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Vector2D&amp;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+=(const Vector2D&amp;);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Vector2D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*(int) const;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Utilities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(const Vector2D&amp;) const;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magnitude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const;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friend std::ostream&amp; 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&lt;&lt;(ostream&amp;, const Vector2D&amp;);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Hash support for unordered containers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Vector2DHash</a:t>
            </a: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size_t operator()(const Vector2D&amp; v) const;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228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AAIZA MARYAM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5669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115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Obstacle Management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508760"/>
            <a:ext cx="3291840" cy="27432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66420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Stores 2D grid as vector&lt;vector&lt;int&gt;&gt;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215798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CellType: EMPTY, OBSTACLE, AGENT, TARGET, PATH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" y="26517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isInsideBounds() — boundary guard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" y="31455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placeObstacle / placeAgent / clearCell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" y="363931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placeRandomObstacles() — random maze gen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" y="41330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printGrid() — live CLI rendering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228600"/>
            <a:ext cx="4892040" cy="4681728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environment.hpp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9080" y="621792"/>
            <a:ext cx="4663440" cy="42245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 CellType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EMPTY, OBSTACLE,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AGENT, TARGET, PATH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Environment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m_width, m_height;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vector&lt;vector&lt;int&gt;&gt; m_grid;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Environment(int, int);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Boundary Check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isInsideBounds(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Vector2D&amp;) const;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isObstacle(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Vector2D&amp;) const;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Cell Manipulation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placeObstacle(const Vector2D&amp;);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placeAgent(const Vector2D&amp;);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clearCell(const Vector2D&amp;);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Random Maze Generator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placeRandomObstacles(int count);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printGrid() const;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QAISAR  ·  Sensor Module  —  Abstraction &amp; Polymorphism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QAISAR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 (Abstract Base Class)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4048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~Sensor() = default;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PURE VIRTUAL → makes class Abstract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int detect(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Vector2D&amp; agentPos,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Vector2D&amp; direction,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Environment&amp; env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const = 0;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2834640"/>
            <a:ext cx="0" cy="45720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31012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9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310128"/>
            <a:ext cx="4114800" cy="41148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DistanceSensor  (Concrete)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767328"/>
            <a:ext cx="384048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m_range;  // detection range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DistanceSensor(int range);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detect(...) const override;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91440" cy="12618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 Function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1280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 detect(...) = 0  makes Sensor abstract — you CANNOT instantiate it directly. Forces every subclass to provide its own detect() logic.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91440" cy="12618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2404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Destructor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2697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~Sensor() = default  is mandatory when using polymorphism, ensuring correct cleanup of derived objects through a base pointer.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74904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749040"/>
            <a:ext cx="91440" cy="1261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Keyword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4114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in DistanceSensor guarantees the function signature matches the base — the compiler will error if you mistype it.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QAISAR  ·  Agent Module  —  Composition &amp; Autonomous Decision-Making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663440" cy="3977640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agent.hpp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434840" cy="3520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m_id;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Vector2D m_position;  // current pos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Vector2D m_velocity;  // direction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Vector2D m_target;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Sensor* m_sensor; // ← Composition!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// Agent "has-a" Sensor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vector&lt;Vector2D&gt; m_path; // BFS result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m_pathIndex =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m_usePathfinding = true;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Agent(int, const Vector2D&amp;, Sensor*);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move(Environment&amp;);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sense(Environment&amp;) const;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Autonomous Logic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decideNextMove(Environment&amp;);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chooseAlternativeDir(Environment&amp;);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Vector2D computeDirectionToTarget() const;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computePath(Environment&amp; env);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20640" y="914400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0" y="914400"/>
            <a:ext cx="9144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85232" y="9601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(Has-A)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85232" y="120700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owns a Sensor* — it does not inherit from it. This means Agent delegates detection to whatever sensor is injected.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1883664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20640" y="1883664"/>
            <a:ext cx="91440" cy="8229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85232" y="19293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Loop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85232" y="21762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decideNextMove() calls computePath() (BFS), follows the path step by step, and falls back to chooseAlternativeDirection() if stuck.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2852928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0640" y="2852928"/>
            <a:ext cx="914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85232" y="2898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Tracking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85232" y="31455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m_path stores the full BFS result. m_pathIndex tracks current position on that path — the agent advances one cell per simulation step.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3822192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3822192"/>
            <a:ext cx="9144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85232" y="38679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85232" y="41148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knows nothing about HOW BFS works or HOW the sensor measures — it just calls them. Clean OOP boundaries.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SADAAN  ·  Senior Project Manager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Pathfinding Algorithm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65960" cy="2560320"/>
          </a:xfrm>
          <a:prstGeom prst="rect">
            <a:avLst/>
          </a:prstGeom>
          <a:solidFill>
            <a:srgbClr val="1B2D45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4128" y="96012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Start to Queue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78308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q.push(start);  visited.insert(start);  Begin BFS from the agent's current cell.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914400"/>
            <a:ext cx="1965960" cy="2560320"/>
          </a:xfrm>
          <a:prstGeom prst="rect">
            <a:avLst/>
          </a:prstGeom>
          <a:solidFill>
            <a:srgbClr val="1B2D4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2032" y="14813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Neighbors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1920240"/>
            <a:ext cx="178308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4 directions: check bounds, check obstacle, check visited — if clear, push to queue.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914400"/>
            <a:ext cx="1965960" cy="2560320"/>
          </a:xfrm>
          <a:prstGeom prst="rect">
            <a:avLst/>
          </a:prstGeom>
          <a:solidFill>
            <a:srgbClr val="1B2D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76672" y="9601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76672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18304" y="14813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Parents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1920240"/>
            <a:ext cx="178308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parent[next] = current  — records how we got to each cell. Essential to reconstruct the path later.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03136" y="914400"/>
            <a:ext cx="1965960" cy="2560320"/>
          </a:xfrm>
          <a:prstGeom prst="rect">
            <a:avLst/>
          </a:prstGeom>
          <a:solidFill>
            <a:srgbClr val="1B2D45"/>
          </a:solidFill>
          <a:ln w="12700">
            <a:solidFill>
              <a:srgbClr val="E879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52944" y="960120"/>
            <a:ext cx="457200" cy="45720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52944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94576" y="14813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Path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94576" y="1920240"/>
            <a:ext cx="178308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backwards from goal → start using the parent map, push_back each cell, then reverse the vector.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8595360" cy="1417320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bfs.cpp  —  Core Loop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913632"/>
            <a:ext cx="8321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(!q.empty()) {                       // Process queue until empty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Vector2D current = q.front(); q.pop();   // Take front cell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(current == goal) break;              // Found! Stop exploring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auto&amp; dir : directions) {     // Try all 4 neighbours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Vector2D next = current + dir;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(!env.isInsideBounds(next)) continue; // Out of grid?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(env.isObstacle(next))    continue; // Blocked?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(visited.count(next))     continue; // Already seen?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q.push(next); visited.insert(next); parent[next] = current;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  ·  Matrix / Linear Algebra Module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65960" cy="502920"/>
          </a:xfrm>
          <a:prstGeom prst="rect">
            <a:avLst/>
          </a:prstGeom>
          <a:solidFill>
            <a:srgbClr val="1A73E8">
              <a:alpha val="90000"/>
            </a:srgbClr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14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914400"/>
            <a:ext cx="658368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783080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matrix addition using operator+. Iterates all rows and columns, sums matching cells into result.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0592" y="914400"/>
            <a:ext cx="1965960" cy="502920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23744" y="914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Mult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85032" y="914400"/>
            <a:ext cx="658368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* 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2032" y="1481328"/>
            <a:ext cx="1783080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every element by a scalar using operator*(double). Enables scaling of any matrix uniformly.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26864" y="914400"/>
            <a:ext cx="1965960" cy="50292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0016" y="914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61304" y="914400"/>
            <a:ext cx="658368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× 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18304" y="1481328"/>
            <a:ext cx="1783080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Triple-nested loop: i, j, k — classic O(n³) algorithm. Computes dot product of each row × column pair.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9144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9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914400"/>
            <a:ext cx="1965960" cy="502920"/>
          </a:xfrm>
          <a:prstGeom prst="rect">
            <a:avLst/>
          </a:prstGeom>
          <a:solidFill>
            <a:srgbClr val="E879F9">
              <a:alpha val="90000"/>
            </a:srgbClr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76288" y="914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37576" y="914400"/>
            <a:ext cx="658368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94576" y="1481328"/>
            <a:ext cx="1783080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rows and columns: result[j][i] = data[i][j]. Returns a new matrix of flipped dimensions.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8595360" cy="1572768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401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matrix.cpp  —  operator* (Matrix × Matrix)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703320"/>
            <a:ext cx="83210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operator*(const Matrix&amp; other)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 result(this-&gt;rows, other.cols);         // Result: (m × n) × (n × p) = (m × 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 = 0; i &lt; this-&gt;rows; i++)           // For each row of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other.cols; j++)         //   For each column of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(int k = 0; k &lt; this-&gt;cols; k++)       //     Accumulate dot product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result.data[i][j] += this-&gt;data[i][k] * other.data[k][j];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716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716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716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716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3716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716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716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3716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3716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716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8288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8288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8288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8288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8288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8288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8288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8288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8288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8288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8288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2860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860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2860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2860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2860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2860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2860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2860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2860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2860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2860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7432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7432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7432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7432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7432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7432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7432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7432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7432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7432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7432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2004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2004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2004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2004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2004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2004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2004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32004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32004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32004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2004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6576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36576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6576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6576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6576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6576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36576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6576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36576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36576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6576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1148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1148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1148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41148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1148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1148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1148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41148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1148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41148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45720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45720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5720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45720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45720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45720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45720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45720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45720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45720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5720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0292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0292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0292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0292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50292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50292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0292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50292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50292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50292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50292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4864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54864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4864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54864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4864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4864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54864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54864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54864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54864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4864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9436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9436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59436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59436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59436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59436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59436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59436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59436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59436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59436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64008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64008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64008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64008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64008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64008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64008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64008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64008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64008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64008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8580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8580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68580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68580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68580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68580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68580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68580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68580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68580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68580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73152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73152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73152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73152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73152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73152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73152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73152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73152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73152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73152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7724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77724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77724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77724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77724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77724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77724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77724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77724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77724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77724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82296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82296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82296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82296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82296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82296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82296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82296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82296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82296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82296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8686800" y="274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8686800" y="731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8686800" y="1188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8686800" y="1645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8686800" y="2103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8686800" y="2560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8686800" y="30175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8686800" y="34747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8686800" y="39319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8686800" y="43891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8686800" y="4846320"/>
            <a:ext cx="45720" cy="45720"/>
          </a:xfrm>
          <a:prstGeom prst="ellipse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Text 209"/>
          <p:cNvSpPr/>
          <p:nvPr/>
        </p:nvSpPr>
        <p:spPr>
          <a:xfrm>
            <a:off x="137160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212" name="Shape 210"/>
          <p:cNvSpPr/>
          <p:nvPr/>
        </p:nvSpPr>
        <p:spPr>
          <a:xfrm>
            <a:off x="2743200" y="2148840"/>
            <a:ext cx="36576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211"/>
          <p:cNvSpPr/>
          <p:nvPr/>
        </p:nvSpPr>
        <p:spPr>
          <a:xfrm>
            <a:off x="1371600" y="22860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400" dirty="0"/>
          </a:p>
        </p:txBody>
      </p:sp>
      <p:sp>
        <p:nvSpPr>
          <p:cNvPr id="214" name="Text 212"/>
          <p:cNvSpPr/>
          <p:nvPr/>
        </p:nvSpPr>
        <p:spPr>
          <a:xfrm>
            <a:off x="1371600" y="29077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Environment Simulator  ·  CS112L  ·  GIKI</a:t>
            </a:r>
            <a:endParaRPr lang="en-US" sz="1200" dirty="0"/>
          </a:p>
        </p:txBody>
      </p:sp>
      <p:sp>
        <p:nvSpPr>
          <p:cNvPr id="215" name="Shape 213"/>
          <p:cNvSpPr/>
          <p:nvPr/>
        </p:nvSpPr>
        <p:spPr>
          <a:xfrm>
            <a:off x="320040" y="3840480"/>
            <a:ext cx="1572768" cy="822960"/>
          </a:xfrm>
          <a:prstGeom prst="rect">
            <a:avLst/>
          </a:prstGeom>
          <a:solidFill>
            <a:srgbClr val="1B2D45">
              <a:alpha val="80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6" name="Text 214"/>
          <p:cNvSpPr/>
          <p:nvPr/>
        </p:nvSpPr>
        <p:spPr>
          <a:xfrm>
            <a:off x="320040" y="3840480"/>
            <a:ext cx="157276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Aaiza Maryam</a:t>
            </a:r>
            <a:endParaRPr lang="en-US" sz="1200" dirty="0"/>
          </a:p>
        </p:txBody>
      </p:sp>
      <p:sp>
        <p:nvSpPr>
          <p:cNvPr id="217" name="Shape 215"/>
          <p:cNvSpPr/>
          <p:nvPr/>
        </p:nvSpPr>
        <p:spPr>
          <a:xfrm>
            <a:off x="2039112" y="3840480"/>
            <a:ext cx="1572768" cy="822960"/>
          </a:xfrm>
          <a:prstGeom prst="rect">
            <a:avLst/>
          </a:prstGeom>
          <a:solidFill>
            <a:srgbClr val="1B2D45">
              <a:alpha val="80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8" name="Text 216"/>
          <p:cNvSpPr/>
          <p:nvPr/>
        </p:nvSpPr>
        <p:spPr>
          <a:xfrm>
            <a:off x="2039112" y="3840480"/>
            <a:ext cx="157276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Umaiza</a:t>
            </a:r>
            <a:endParaRPr lang="en-US" sz="1200" dirty="0"/>
          </a:p>
        </p:txBody>
      </p:sp>
      <p:sp>
        <p:nvSpPr>
          <p:cNvPr id="219" name="Shape 217"/>
          <p:cNvSpPr/>
          <p:nvPr/>
        </p:nvSpPr>
        <p:spPr>
          <a:xfrm>
            <a:off x="3758184" y="3840480"/>
            <a:ext cx="1572768" cy="822960"/>
          </a:xfrm>
          <a:prstGeom prst="rect">
            <a:avLst/>
          </a:prstGeom>
          <a:solidFill>
            <a:srgbClr val="1B2D45">
              <a:alpha val="80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0" name="Text 218"/>
          <p:cNvSpPr/>
          <p:nvPr/>
        </p:nvSpPr>
        <p:spPr>
          <a:xfrm>
            <a:off x="3758184" y="3840480"/>
            <a:ext cx="157276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Qaisar</a:t>
            </a:r>
            <a:endParaRPr lang="en-US" sz="1200" dirty="0"/>
          </a:p>
        </p:txBody>
      </p:sp>
      <p:sp>
        <p:nvSpPr>
          <p:cNvPr id="221" name="Shape 219"/>
          <p:cNvSpPr/>
          <p:nvPr/>
        </p:nvSpPr>
        <p:spPr>
          <a:xfrm>
            <a:off x="5477256" y="3840480"/>
            <a:ext cx="1572768" cy="822960"/>
          </a:xfrm>
          <a:prstGeom prst="rect">
            <a:avLst/>
          </a:prstGeom>
          <a:solidFill>
            <a:srgbClr val="1B2D45">
              <a:alpha val="80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2" name="Text 220"/>
          <p:cNvSpPr/>
          <p:nvPr/>
        </p:nvSpPr>
        <p:spPr>
          <a:xfrm>
            <a:off x="5477256" y="3840480"/>
            <a:ext cx="157276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</a:t>
            </a:r>
            <a:endParaRPr lang="en-US" sz="1200" dirty="0"/>
          </a:p>
        </p:txBody>
      </p:sp>
      <p:sp>
        <p:nvSpPr>
          <p:cNvPr id="223" name="Shape 221"/>
          <p:cNvSpPr/>
          <p:nvPr/>
        </p:nvSpPr>
        <p:spPr>
          <a:xfrm>
            <a:off x="7196328" y="3840480"/>
            <a:ext cx="157276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4" name="Text 222"/>
          <p:cNvSpPr/>
          <p:nvPr/>
        </p:nvSpPr>
        <p:spPr>
          <a:xfrm>
            <a:off x="7196328" y="3840480"/>
            <a:ext cx="157276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Senior PM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1566</Words>
  <Application>Microsoft Office PowerPoint</Application>
  <PresentationFormat>On-screen Show (16:9)</PresentationFormat>
  <Paragraphs>259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Agent Environment Simulator</dc:title>
  <dc:subject>PptxGenJS Presentation</dc:subject>
  <dc:creator>PptxGenJS</dc:creator>
  <cp:lastModifiedBy>Talha Nauman</cp:lastModifiedBy>
  <cp:revision>2</cp:revision>
  <dcterms:created xsi:type="dcterms:W3CDTF">2026-05-07T05:44:45Z</dcterms:created>
  <dcterms:modified xsi:type="dcterms:W3CDTF">2026-05-07T06:59:53Z</dcterms:modified>
</cp:coreProperties>
</file>